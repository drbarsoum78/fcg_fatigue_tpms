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657" r:id="rId2"/>
    <p:sldId id="659" r:id="rId3"/>
    <p:sldId id="66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2CD39A-4F13-498B-AAC1-B61F84093A63}" type="datetimeFigureOut">
              <a:rPr lang="en-AE" smtClean="0"/>
              <a:t>12/04/2026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A60F5B-8C28-441B-A904-026A4D52EE6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23967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37A02-78F4-78A0-5F57-329F9F81C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9B8E45-96F8-0DE7-7268-7B09A4368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E5A62D-5E18-5F6F-7BE6-11DB3FC6A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Starting with the specimen, two types of specimens were used: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compact tension specimens, designed according to ASTM E647 for crack growth characterization,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and IWP-dog-bone samples at 30% and 50% relative densities.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specimens were fabricated using AlSi10Mg.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the CT specimens, four conditions were considered by combining two build orientations, horizontal and vertical, with as-built and stress-relieved states.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stress-relief heat treatment was applied at 300°C for two hours to reduce residual stresses.</a:t>
            </a: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4C144-1BFB-5FEF-3EFD-52FA0BF61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85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5591B-E58E-C93B-D755-F6FB91FA6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FD5515-8BD8-8F20-F96A-D93FA29ED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8FE914-9A50-2174-2A4D-2066CAC9C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Moving to mechanical testing procedure.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First, fatigue pre-cracking was performed according to ASTM E647 to ensure consistent crack initiation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Then, fatigue crack growth tests were conducted under a load ratio of 0.1 and a frequency of around 10 Hz, with the maximum stress intensity kept below fracture toughness.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Quasi-static tests were used to determine the effective yield strength, which defines the fatigue loading levels.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Finally, fatigue tests on dog-bone specimens were performed to measure crack length and cycles to failure.</a:t>
            </a:r>
          </a:p>
          <a:p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9DDB9-D6A9-76E6-9373-9CD2E2F61E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6800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D7D7B-5633-7013-C0B1-10F86F421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E74B39-D429-26C8-DCFF-CF3BB7D65F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F52813B8-EA4E-7BCB-00D9-4CDEE5B98E0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Moving to the fatigue crack growth simulation workflow, we start with the FE model, defining material properties, boundary conditions, the mesh, and the initial crack, followed by a static analysis to obtain the stress field at the crack front.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The model is then subdivided into global and local domains, where the crack is locally refined.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Stress intensity factors are computed using the M-integral, and the crack direction and growth increment are determined.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This process is repeated until the stopping criterion is reached, using ABAQUS or ANSYS for stress analysis and FRANC3D for crack propagation.</a:t>
                </a:r>
                <a:endParaRPr lang="en-AE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F52813B8-EA4E-7BCB-00D9-4CDEE5B98E0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800" dirty="0">
                    <a:latin typeface="Georgia" panose="02040502050405020303" pitchFamily="18" charset="0"/>
                  </a:rPr>
                  <a:t>The auxiliary solution is analytical and represents a pure fracture mode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800" dirty="0">
                    <a:latin typeface="Georgia" panose="02040502050405020303" pitchFamily="18" charset="0"/>
                  </a:rPr>
                  <a:t>Enables extraction of </a:t>
                </a:r>
                <a:r>
                  <a:rPr lang="en-US" sz="1800" i="0" dirty="0">
                    <a:latin typeface="Cambria Math" panose="02040503050406030204" pitchFamily="18" charset="0"/>
                  </a:rPr>
                  <a:t>𝐾_𝐼,</a:t>
                </a:r>
                <a:r>
                  <a:rPr lang="en-US" sz="1800" dirty="0">
                    <a:latin typeface="Georgia" panose="02040502050405020303" pitchFamily="18" charset="0"/>
                  </a:rPr>
                  <a:t> </a:t>
                </a:r>
                <a:r>
                  <a:rPr lang="en-US" sz="1800" i="0" dirty="0">
                    <a:latin typeface="Cambria Math" panose="02040503050406030204" pitchFamily="18" charset="0"/>
                  </a:rPr>
                  <a:t>𝐾_𝐼𝐼,𝐾_𝐼𝐼𝐼</a:t>
                </a:r>
                <a:endParaRPr lang="en-AE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73E20-BAFA-AC67-3CF0-CA7337FD1A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24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D7AA9-F88E-5EAC-F838-8DDF18ADA7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64D4F9-99A8-8E77-6375-BDBBABF1AA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0E399-E087-1983-C221-22347D98A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F1759-565F-431E-9873-EDDADE2BF0A7}" type="datetimeFigureOut">
              <a:rPr lang="en-AE" smtClean="0"/>
              <a:t>12/04/2026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7AF8F-F228-9D06-5061-B82A166DB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4D7FB-B37B-2E1C-1D5A-97387FFC4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13F3D-DCDC-4E71-A1DC-ADE435515E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36386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29599-42CB-CCA7-2180-386035F29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7A0EB-9300-A017-A0AC-D21762D88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E11F6-3B04-B5D5-643D-F7C3E11AA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F1759-565F-431E-9873-EDDADE2BF0A7}" type="datetimeFigureOut">
              <a:rPr lang="en-AE" smtClean="0"/>
              <a:t>12/04/2026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8B185-29BE-2C3E-5E5F-2368F4733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8C5A6-5B57-E97E-7AFE-64820BDF4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13F3D-DCDC-4E71-A1DC-ADE435515E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55859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36FC9-9717-EF38-5975-D63804048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0CA52-561A-296B-5E1F-F2A6C815E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12A5E-B155-06A7-21F6-7C877A0E5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F1759-565F-431E-9873-EDDADE2BF0A7}" type="datetimeFigureOut">
              <a:rPr lang="en-AE" smtClean="0"/>
              <a:t>12/04/2026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D01E8-B261-6504-047F-C7B226936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08EA9-E2BB-383E-41B7-9F1650192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13F3D-DCDC-4E71-A1DC-ADE435515E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25248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8C6B2-977A-6DFB-BCF0-96A8E378E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03313-6A62-843C-0CB1-8BF3E4A4F9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87B1F-A94A-8343-D531-138F36CC8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EC10C-2903-56C0-1426-59179AA18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F1759-565F-431E-9873-EDDADE2BF0A7}" type="datetimeFigureOut">
              <a:rPr lang="en-AE" smtClean="0"/>
              <a:t>12/04/2026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CDFCC-2632-1C28-1F0D-2D43F412E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C01A3-9939-0362-45EF-12D098ADD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13F3D-DCDC-4E71-A1DC-ADE435515E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86330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A88CF-4643-829E-4B21-60FF6DAD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F6860-FD15-FF2B-81FD-8A0270FE3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4E44F-488D-6932-763D-97A0591581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F2BA7D-79A2-4AF6-FF4F-B60E13385A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02B8DC-7ABD-A2BD-5E86-52185185BA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178BC2-851E-3A9F-0CF3-4B88BC940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F1759-565F-431E-9873-EDDADE2BF0A7}" type="datetimeFigureOut">
              <a:rPr lang="en-AE" smtClean="0"/>
              <a:t>12/04/2026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B13251-3F79-AE28-03BD-5B3357E12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6EEF5B-9FE3-0ABD-DCD3-A194DC7F3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13F3D-DCDC-4E71-A1DC-ADE435515E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47080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AA6-3FA6-4006-6DAE-A2D7FAE8E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4AEA89-1167-9290-F205-7C61C52AA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F1759-565F-431E-9873-EDDADE2BF0A7}" type="datetimeFigureOut">
              <a:rPr lang="en-AE" smtClean="0"/>
              <a:t>12/04/2026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A461DC-DC68-A15F-3B8C-464BB64A0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71ED54-3AF5-3450-8B50-0EEB10337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13F3D-DCDC-4E71-A1DC-ADE435515E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4805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62A737-0EBF-8C00-AE47-FFE49ADA8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F1759-565F-431E-9873-EDDADE2BF0A7}" type="datetimeFigureOut">
              <a:rPr lang="en-AE" smtClean="0"/>
              <a:t>12/04/2026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311747-AE3B-E587-97AA-33E4830F6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ECCD3-2C83-6FA1-7141-3212FAAA4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13F3D-DCDC-4E71-A1DC-ADE435515E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28822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49646-58E4-6911-423B-D37CA7DB4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F4B67-EB74-947E-5CB6-17468BD0A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54AE9A-31E8-FC37-585F-BADB2D8BCD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F633A7-DE02-CC04-EDE3-2114716EE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F1759-565F-431E-9873-EDDADE2BF0A7}" type="datetimeFigureOut">
              <a:rPr lang="en-AE" smtClean="0"/>
              <a:t>12/04/2026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BF4D7F-15F5-2207-6639-2EB1E2340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4E5D4F-6C28-52F5-E444-F13ACCD76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13F3D-DCDC-4E71-A1DC-ADE435515E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9199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1CF12-4CD5-CB09-B2CC-F816B297A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654999-D626-1703-0963-E3927C4CB8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3CEE73-32AF-9D21-7392-4178A90194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2CC183-225E-13A2-4A15-A5309264A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F1759-565F-431E-9873-EDDADE2BF0A7}" type="datetimeFigureOut">
              <a:rPr lang="en-AE" smtClean="0"/>
              <a:t>12/04/2026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9C1919-EDAE-ABBD-6641-F05F8FB73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A01BA2-2D62-CA9F-2177-8B8C5C1DD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13F3D-DCDC-4E71-A1DC-ADE435515E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18292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74311-5966-9FC2-FCCF-902738C07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73E626-F28E-BAC0-1B8B-CB6CE5FD5E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175F3-38CF-9961-DAEF-E46C37BF5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F1759-565F-431E-9873-EDDADE2BF0A7}" type="datetimeFigureOut">
              <a:rPr lang="en-AE" smtClean="0"/>
              <a:t>12/04/2026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24BB3-2A86-CB49-48AC-409FFB9F2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A9BE0-1528-8D7C-425A-8136743A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13F3D-DCDC-4E71-A1DC-ADE435515E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61904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1DA1F4-923F-0805-D17C-250507E784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D87463-CA75-47F2-0A88-847DD68710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C82A5-E8F9-5D87-57D0-D9D939A9D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F1759-565F-431E-9873-EDDADE2BF0A7}" type="datetimeFigureOut">
              <a:rPr lang="en-AE" smtClean="0"/>
              <a:t>12/04/2026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7A38B-7BD0-75A4-9F3A-310740177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4577C-F3A7-D69E-F2DC-96FA7362A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13F3D-DCDC-4E71-A1DC-ADE435515E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3176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479103-5AAA-8093-1030-60B784032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FD917-A337-3120-2518-516A82A1C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2D433-4A5D-1FFF-1D0D-54C34F2113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3F1759-565F-431E-9873-EDDADE2BF0A7}" type="datetimeFigureOut">
              <a:rPr lang="en-AE" smtClean="0"/>
              <a:t>12/04/2026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000C2-1AB0-576D-3571-1401FCF712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00B71-D096-3F9B-CA06-5602CD69A4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C13F3D-DCDC-4E71-A1DC-ADE435515E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61882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35.png"/><Relationship Id="rId7" Type="http://schemas.openxmlformats.org/officeDocument/2006/relationships/image" Target="../media/image3.png"/><Relationship Id="rId12" Type="http://schemas.openxmlformats.org/officeDocument/2006/relationships/image" Target="../media/image1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6.png"/><Relationship Id="rId11" Type="http://schemas.openxmlformats.org/officeDocument/2006/relationships/image" Target="../media/image133.png"/><Relationship Id="rId5" Type="http://schemas.openxmlformats.org/officeDocument/2006/relationships/image" Target="../media/image145.png"/><Relationship Id="rId10" Type="http://schemas.openxmlformats.org/officeDocument/2006/relationships/image" Target="../media/image132.png"/><Relationship Id="rId4" Type="http://schemas.openxmlformats.org/officeDocument/2006/relationships/image" Target="../media/image144.png"/><Relationship Id="rId9" Type="http://schemas.openxmlformats.org/officeDocument/2006/relationships/image" Target="../media/image13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FBD37-BB70-3395-E74D-7BD1AB484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4301D7-0CDC-31C9-E774-776FDA0D1F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1659616"/>
            <a:ext cx="5643249" cy="5134673"/>
          </a:xfrm>
          <a:prstGeom prst="rect">
            <a:avLst/>
          </a:prstGeom>
        </p:spPr>
      </p:pic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9BDC3A4B-4E0B-3288-7D6D-0AA201DA82D7}"/>
              </a:ext>
            </a:extLst>
          </p:cNvPr>
          <p:cNvGraphicFramePr>
            <a:graphicFrameLocks noGrp="1"/>
          </p:cNvGraphicFramePr>
          <p:nvPr/>
        </p:nvGraphicFramePr>
        <p:xfrm>
          <a:off x="225774" y="392747"/>
          <a:ext cx="11466095" cy="118872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1466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0" lang="fi-FI" sz="3600" b="1" i="0" u="none" strike="noStrike" kern="1200" cap="none" spc="50" normalizeH="0" baseline="0" noProof="0" dirty="0">
                          <a:ln>
                            <a:noFill/>
                          </a:ln>
                          <a:solidFill>
                            <a:srgbClr val="0047BA"/>
                          </a:solidFill>
                          <a:effectLst/>
                          <a:uLnTx/>
                          <a:uFillTx/>
                          <a:latin typeface="Georgia" panose="02040502050405020303" pitchFamily="18" charset="0"/>
                          <a:ea typeface="+mj-ea"/>
                          <a:cs typeface="Times New Roman" panose="02020603050405020304" pitchFamily="18" charset="0"/>
                        </a:rPr>
                        <a:t>Mehodology: Specimen Design &amp; Manufacturing</a:t>
                      </a:r>
                      <a:endParaRPr kumimoji="0" lang="en-US" sz="3600" b="1" i="0" u="none" strike="noStrike" kern="1200" cap="none" spc="50" normalizeH="0" baseline="0" dirty="0">
                        <a:ln>
                          <a:noFill/>
                        </a:ln>
                        <a:solidFill>
                          <a:srgbClr val="0047BA"/>
                        </a:solidFill>
                        <a:effectLst/>
                        <a:uLnTx/>
                        <a:uFillTx/>
                        <a:latin typeface="Georgia" panose="02040502050405020303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5" name="Slide Number Placeholder 3">
            <a:extLst>
              <a:ext uri="{FF2B5EF4-FFF2-40B4-BE49-F238E27FC236}">
                <a16:creationId xmlns:a16="http://schemas.microsoft.com/office/drawing/2014/main" id="{751F7C89-70B3-86FA-EBCA-BA291BBA9B85}"/>
              </a:ext>
            </a:extLst>
          </p:cNvPr>
          <p:cNvSpPr txBox="1">
            <a:spLocks/>
          </p:cNvSpPr>
          <p:nvPr/>
        </p:nvSpPr>
        <p:spPr>
          <a:xfrm>
            <a:off x="11596600" y="6487622"/>
            <a:ext cx="5238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E68DD1B-5CD8-424B-8173-19E182143E0A}" type="slidenum">
              <a:rPr lang="en-US" sz="2000" b="1" smtClean="0">
                <a:solidFill>
                  <a:srgbClr val="0047BA"/>
                </a:solidFill>
                <a:latin typeface="Georgia" panose="02040502050405020303" pitchFamily="18" charset="0"/>
              </a:rPr>
              <a:pPr/>
              <a:t>1</a:t>
            </a:fld>
            <a:endParaRPr lang="en-US" sz="2000" b="1" dirty="0">
              <a:solidFill>
                <a:srgbClr val="0047BA"/>
              </a:solidFill>
              <a:latin typeface="Georgia" panose="02040502050405020303" pitchFamily="18" charset="0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5443EAC-1D44-DBFD-5B0A-45E9AEB43161}"/>
              </a:ext>
            </a:extLst>
          </p:cNvPr>
          <p:cNvGrpSpPr/>
          <p:nvPr/>
        </p:nvGrpSpPr>
        <p:grpSpPr>
          <a:xfrm>
            <a:off x="66675" y="1581467"/>
            <a:ext cx="6096000" cy="805007"/>
            <a:chOff x="66675" y="2365650"/>
            <a:chExt cx="6096000" cy="80500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D23F78C-4DE7-7506-33DC-73A0DA0B7051}"/>
                </a:ext>
              </a:extLst>
            </p:cNvPr>
            <p:cNvSpPr txBox="1"/>
            <p:nvPr/>
          </p:nvSpPr>
          <p:spPr>
            <a:xfrm>
              <a:off x="66675" y="2365650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800" b="1" i="1" dirty="0">
                  <a:solidFill>
                    <a:srgbClr val="FF0000"/>
                  </a:solidFill>
                  <a:latin typeface="Georgia" panose="02040502050405020303" pitchFamily="18" charset="0"/>
                </a:rPr>
                <a:t>Geometry: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C9AB766-30D0-5838-B908-18D22CC849CD}"/>
                </a:ext>
              </a:extLst>
            </p:cNvPr>
            <p:cNvSpPr txBox="1"/>
            <p:nvPr/>
          </p:nvSpPr>
          <p:spPr>
            <a:xfrm>
              <a:off x="66675" y="2647437"/>
              <a:ext cx="60960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sz="1400" dirty="0">
                  <a:latin typeface="Georgia" panose="02040502050405020303" pitchFamily="18" charset="0"/>
                </a:rPr>
                <a:t>Compact Tension (CT) specimens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sz="1400" dirty="0">
                  <a:latin typeface="Georgia" panose="02040502050405020303" pitchFamily="18" charset="0"/>
                </a:rPr>
                <a:t>IWP-TPMS lattice dog-bone samples (from previous study)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D4E8A074-0E4B-CDE4-F04E-75C29CA70505}"/>
              </a:ext>
            </a:extLst>
          </p:cNvPr>
          <p:cNvSpPr txBox="1"/>
          <p:nvPr/>
        </p:nvSpPr>
        <p:spPr>
          <a:xfrm>
            <a:off x="66675" y="23864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sz="1800" b="1" i="1" dirty="0">
                <a:solidFill>
                  <a:srgbClr val="FF0000"/>
                </a:solidFill>
                <a:latin typeface="Georgia" panose="02040502050405020303" pitchFamily="18" charset="0"/>
              </a:rPr>
              <a:t>Relative densities: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E4E23C-A58C-051D-80F7-E67CCC9F61F8}"/>
              </a:ext>
            </a:extLst>
          </p:cNvPr>
          <p:cNvSpPr txBox="1"/>
          <p:nvPr/>
        </p:nvSpPr>
        <p:spPr>
          <a:xfrm>
            <a:off x="66675" y="2705080"/>
            <a:ext cx="62402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eorgia" panose="02040502050405020303" pitchFamily="18" charset="0"/>
              </a:rPr>
              <a:t>30% and 50%</a:t>
            </a:r>
            <a:endParaRPr lang="en-AE" sz="1400" dirty="0">
              <a:latin typeface="Georgia" panose="02040502050405020303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F60DD7-543A-CB8F-65C3-F1F496A8B48A}"/>
              </a:ext>
            </a:extLst>
          </p:cNvPr>
          <p:cNvSpPr txBox="1"/>
          <p:nvPr/>
        </p:nvSpPr>
        <p:spPr>
          <a:xfrm>
            <a:off x="66675" y="2973352"/>
            <a:ext cx="6240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sz="1800" b="1" i="1" dirty="0">
                <a:solidFill>
                  <a:srgbClr val="FF0000"/>
                </a:solidFill>
                <a:latin typeface="Georgia" panose="02040502050405020303" pitchFamily="18" charset="0"/>
              </a:rPr>
              <a:t>Manufacturing: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18FD4E-C69E-1C16-8C0D-EE93DE6370C7}"/>
              </a:ext>
            </a:extLst>
          </p:cNvPr>
          <p:cNvSpPr txBox="1"/>
          <p:nvPr/>
        </p:nvSpPr>
        <p:spPr>
          <a:xfrm>
            <a:off x="88435" y="3313560"/>
            <a:ext cx="31721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eorgia" panose="02040502050405020303" pitchFamily="18" charset="0"/>
              </a:rPr>
              <a:t>Material: AlSi10Mg</a:t>
            </a:r>
          </a:p>
          <a:p>
            <a:endParaRPr lang="en-AE" sz="1400" dirty="0"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A6972-86E6-0CBC-E011-022E6C82A572}"/>
              </a:ext>
            </a:extLst>
          </p:cNvPr>
          <p:cNvSpPr txBox="1"/>
          <p:nvPr/>
        </p:nvSpPr>
        <p:spPr>
          <a:xfrm>
            <a:off x="84003" y="3576757"/>
            <a:ext cx="6353174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eorgia" panose="02040502050405020303" pitchFamily="18" charset="0"/>
              </a:rPr>
              <a:t>Process parameters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Laser power: 370 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Layer thickness: 30 µm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Scan speed: 1300 mm/s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Hatch spacing: 0.21 mm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Georgia" panose="02040502050405020303" pitchFamily="18" charset="0"/>
              </a:rPr>
              <a:t>Interlayer rotation strategy: 45° / –45°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CCE7F12-316B-78D7-1E46-232E3C5C8DDD}"/>
              </a:ext>
            </a:extLst>
          </p:cNvPr>
          <p:cNvGrpSpPr/>
          <p:nvPr/>
        </p:nvGrpSpPr>
        <p:grpSpPr>
          <a:xfrm>
            <a:off x="84003" y="4751096"/>
            <a:ext cx="6096000" cy="2201061"/>
            <a:chOff x="84003" y="4751096"/>
            <a:chExt cx="6096000" cy="220106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48BBD7A-205C-EBA9-BEB7-6247A68BC5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0294" y="5585873"/>
              <a:ext cx="3829900" cy="1366284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39AF7CB-CBF7-77D4-8D7B-8210C07636EF}"/>
                </a:ext>
              </a:extLst>
            </p:cNvPr>
            <p:cNvSpPr txBox="1"/>
            <p:nvPr/>
          </p:nvSpPr>
          <p:spPr>
            <a:xfrm>
              <a:off x="84003" y="4751096"/>
              <a:ext cx="6096000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sz="1400" dirty="0">
                  <a:latin typeface="Georgia" panose="02040502050405020303" pitchFamily="18" charset="0"/>
                </a:rPr>
                <a:t>For CT specimens 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Georgia" panose="02040502050405020303" pitchFamily="18" charset="0"/>
                </a:rPr>
                <a:t>Four conditions:</a:t>
              </a:r>
            </a:p>
            <a:p>
              <a:pPr lvl="2"/>
              <a:r>
                <a:rPr lang="en-US" sz="1400" dirty="0">
                  <a:latin typeface="Georgia" panose="02040502050405020303" pitchFamily="18" charset="0"/>
                </a:rPr>
                <a:t> 2 printing direction (Z-Y &amp; X-Y) × </a:t>
              </a:r>
            </a:p>
            <a:p>
              <a:pPr lvl="2"/>
              <a:r>
                <a:rPr lang="en-US" sz="1400" dirty="0">
                  <a:latin typeface="Georgia" panose="02040502050405020303" pitchFamily="18" charset="0"/>
                </a:rPr>
                <a:t>2 treatments (As-built &amp;  Stress-relieved)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3481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4A810-3CB3-5EB9-568A-2643CBF73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8108C15D-C77A-FF98-7ED8-9DB0CF383A00}"/>
              </a:ext>
            </a:extLst>
          </p:cNvPr>
          <p:cNvGraphicFramePr>
            <a:graphicFrameLocks noGrp="1"/>
          </p:cNvGraphicFramePr>
          <p:nvPr/>
        </p:nvGraphicFramePr>
        <p:xfrm>
          <a:off x="225774" y="392747"/>
          <a:ext cx="11466095" cy="64008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1466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0" lang="fi-FI" sz="3600" b="1" i="0" u="none" strike="noStrike" kern="1200" cap="none" spc="50" normalizeH="0" baseline="0" noProof="0" dirty="0">
                          <a:ln>
                            <a:noFill/>
                          </a:ln>
                          <a:solidFill>
                            <a:srgbClr val="0047BA"/>
                          </a:solidFill>
                          <a:effectLst/>
                          <a:uLnTx/>
                          <a:uFillTx/>
                          <a:latin typeface="Georgia" panose="02040502050405020303" pitchFamily="18" charset="0"/>
                          <a:ea typeface="+mj-ea"/>
                          <a:cs typeface="Times New Roman" panose="02020603050405020304" pitchFamily="18" charset="0"/>
                        </a:rPr>
                        <a:t>Mehodology: Mechanical Testing</a:t>
                      </a:r>
                      <a:endParaRPr kumimoji="0" lang="en-US" sz="3600" b="1" i="0" u="none" strike="noStrike" kern="1200" cap="none" spc="50" normalizeH="0" baseline="0" dirty="0">
                        <a:ln>
                          <a:noFill/>
                        </a:ln>
                        <a:solidFill>
                          <a:srgbClr val="0047BA"/>
                        </a:solidFill>
                        <a:effectLst/>
                        <a:uLnTx/>
                        <a:uFillTx/>
                        <a:latin typeface="Georgia" panose="02040502050405020303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5" name="Slide Number Placeholder 3">
            <a:extLst>
              <a:ext uri="{FF2B5EF4-FFF2-40B4-BE49-F238E27FC236}">
                <a16:creationId xmlns:a16="http://schemas.microsoft.com/office/drawing/2014/main" id="{351C1C99-0F92-BE72-1268-BE14FE21954E}"/>
              </a:ext>
            </a:extLst>
          </p:cNvPr>
          <p:cNvSpPr txBox="1">
            <a:spLocks/>
          </p:cNvSpPr>
          <p:nvPr/>
        </p:nvSpPr>
        <p:spPr>
          <a:xfrm>
            <a:off x="11596600" y="6487622"/>
            <a:ext cx="5238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E68DD1B-5CD8-424B-8173-19E182143E0A}" type="slidenum">
              <a:rPr lang="en-US" sz="2000" b="1" smtClean="0">
                <a:solidFill>
                  <a:srgbClr val="0047BA"/>
                </a:solidFill>
                <a:latin typeface="Georgia" panose="02040502050405020303" pitchFamily="18" charset="0"/>
              </a:rPr>
              <a:pPr/>
              <a:t>2</a:t>
            </a:fld>
            <a:endParaRPr lang="en-US" sz="2000" b="1" dirty="0">
              <a:solidFill>
                <a:srgbClr val="0047BA"/>
              </a:solidFill>
              <a:latin typeface="Georgia" panose="02040502050405020303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6DD2DE5-4284-820F-4D1C-CDF875D1F11C}"/>
              </a:ext>
            </a:extLst>
          </p:cNvPr>
          <p:cNvGrpSpPr/>
          <p:nvPr/>
        </p:nvGrpSpPr>
        <p:grpSpPr>
          <a:xfrm>
            <a:off x="0" y="4226437"/>
            <a:ext cx="6283572" cy="641370"/>
            <a:chOff x="0" y="4226437"/>
            <a:chExt cx="6283572" cy="64137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406F2A5-880C-D6C8-D6B7-26C883F944C5}"/>
                </a:ext>
              </a:extLst>
            </p:cNvPr>
            <p:cNvSpPr txBox="1"/>
            <p:nvPr/>
          </p:nvSpPr>
          <p:spPr>
            <a:xfrm>
              <a:off x="0" y="4226437"/>
              <a:ext cx="624029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800" b="1" i="1" dirty="0">
                  <a:solidFill>
                    <a:srgbClr val="FF0000"/>
                  </a:solidFill>
                  <a:latin typeface="Georgia" panose="02040502050405020303" pitchFamily="18" charset="0"/>
                </a:rPr>
                <a:t>Quasi-static tests: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D47EACD-CFC4-366B-9C14-799459EA0E64}"/>
                    </a:ext>
                  </a:extLst>
                </p:cNvPr>
                <p:cNvSpPr txBox="1"/>
                <p:nvPr/>
              </p:nvSpPr>
              <p:spPr>
                <a:xfrm>
                  <a:off x="43280" y="4543038"/>
                  <a:ext cx="6240292" cy="32476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285750" indent="-285750">
                    <a:buFont typeface="Wingdings" panose="05000000000000000000" pitchFamily="2" charset="2"/>
                    <a:buChar char="§"/>
                  </a:pPr>
                  <a:r>
                    <a:rPr lang="en-US" sz="1400" dirty="0">
                      <a:latin typeface="Georgia" panose="02040502050405020303" pitchFamily="18" charset="0"/>
                    </a:rPr>
                    <a:t>Determine effective yield strength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a14:m>
                  <a:r>
                    <a:rPr lang="en-US" sz="1400" dirty="0">
                      <a:latin typeface="Georgia" panose="02040502050405020303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D47EACD-CFC4-366B-9C14-799459EA0E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0" y="4543038"/>
                  <a:ext cx="6240292" cy="324769"/>
                </a:xfrm>
                <a:prstGeom prst="rect">
                  <a:avLst/>
                </a:prstGeom>
                <a:blipFill>
                  <a:blip r:embed="rId4"/>
                  <a:stretch>
                    <a:fillRect l="-98" t="-5556" b="-11111"/>
                  </a:stretch>
                </a:blipFill>
              </p:spPr>
              <p:txBody>
                <a:bodyPr/>
                <a:lstStyle/>
                <a:p>
                  <a:r>
                    <a:rPr lang="en-A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0ACE297-E80C-A4B1-7DEC-856903DD6258}"/>
              </a:ext>
            </a:extLst>
          </p:cNvPr>
          <p:cNvGrpSpPr/>
          <p:nvPr/>
        </p:nvGrpSpPr>
        <p:grpSpPr>
          <a:xfrm>
            <a:off x="0" y="2544446"/>
            <a:ext cx="6146386" cy="1780443"/>
            <a:chOff x="0" y="2544446"/>
            <a:chExt cx="6146386" cy="17804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603FB4C-6416-B67F-0180-2A9EDD5F5146}"/>
                    </a:ext>
                  </a:extLst>
                </p:cNvPr>
                <p:cNvSpPr txBox="1"/>
                <p:nvPr/>
              </p:nvSpPr>
              <p:spPr>
                <a:xfrm>
                  <a:off x="50386" y="2878339"/>
                  <a:ext cx="6096000" cy="144655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285750" indent="-285750">
                    <a:buFont typeface="Wingdings" panose="05000000000000000000" pitchFamily="2" charset="2"/>
                    <a:buChar char="§"/>
                  </a:pPr>
                  <a:r>
                    <a:rPr lang="en-US" sz="1400" dirty="0">
                      <a:latin typeface="Georgia" panose="02040502050405020303" pitchFamily="18" charset="0"/>
                    </a:rPr>
                    <a:t>Standard: ASTM E647</a:t>
                  </a:r>
                </a:p>
                <a:p>
                  <a:pPr marL="285750" indent="-285750">
                    <a:buFont typeface="Wingdings" panose="05000000000000000000" pitchFamily="2" charset="2"/>
                    <a:buChar char="§"/>
                  </a:pPr>
                  <a:r>
                    <a:rPr lang="en-US" sz="1400" dirty="0">
                      <a:latin typeface="Georgia" panose="02040502050405020303" pitchFamily="18" charset="0"/>
                    </a:rPr>
                    <a:t>Load ratio: R = 0.1      Frequency: ~10 Hz</a:t>
                  </a:r>
                </a:p>
                <a:p>
                  <a:pPr marL="285750" indent="-285750">
                    <a:buFont typeface="Wingdings" panose="05000000000000000000" pitchFamily="2" charset="2"/>
                    <a:buChar char="§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  <m:r>
                        <m:rPr>
                          <m:nor/>
                        </m:rPr>
                        <a:rPr lang="en-AE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0.7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𝐼𝐶</m:t>
                          </m:r>
                        </m:sub>
                      </m:sSub>
                    </m:oMath>
                  </a14:m>
                  <a:endParaRPr lang="en-US" sz="14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marL="285750" indent="-285750">
                    <a:buFont typeface="Wingdings" panose="05000000000000000000" pitchFamily="2" charset="2"/>
                    <a:buChar char="§"/>
                  </a:pPr>
                  <a:r>
                    <a:rPr lang="en-US" sz="1400" dirty="0">
                      <a:latin typeface="Georgia" panose="02040502050405020303" pitchFamily="18" charset="0"/>
                    </a:rPr>
                    <a:t>Output:</a:t>
                  </a:r>
                </a:p>
                <a:p>
                  <a:pPr marL="742950" lvl="1" indent="-285750">
                    <a:buFont typeface="Arial" panose="020B0604020202020204" pitchFamily="34" charset="0"/>
                    <a:buChar char="•"/>
                  </a:pPr>
                  <a:r>
                    <a:rPr lang="en-US" sz="1400" dirty="0">
                      <a:latin typeface="Georgia" panose="02040502050405020303" pitchFamily="18" charset="0"/>
                    </a:rPr>
                    <a:t>da/</a:t>
                  </a:r>
                  <a:r>
                    <a:rPr lang="en-US" sz="1400" dirty="0" err="1">
                      <a:latin typeface="Georgia" panose="02040502050405020303" pitchFamily="18" charset="0"/>
                    </a:rPr>
                    <a:t>dN</a:t>
                  </a:r>
                  <a:r>
                    <a:rPr lang="en-US" sz="1400" dirty="0">
                      <a:latin typeface="Georgia" panose="02040502050405020303" pitchFamily="18" charset="0"/>
                    </a:rPr>
                    <a:t> vs </a:t>
                  </a:r>
                  <a:r>
                    <a:rPr lang="el-GR" sz="1400" dirty="0">
                      <a:latin typeface="Georgia" panose="02040502050405020303" pitchFamily="18" charset="0"/>
                    </a:rPr>
                    <a:t>Δ</a:t>
                  </a:r>
                  <a:r>
                    <a:rPr lang="en-US" sz="1400" dirty="0">
                      <a:latin typeface="Georgia" panose="02040502050405020303" pitchFamily="18" charset="0"/>
                    </a:rPr>
                    <a:t>K curves</a:t>
                  </a:r>
                </a:p>
                <a:p>
                  <a:pPr marL="742950" lvl="1" indent="-285750">
                    <a:buFont typeface="Arial" panose="020B0604020202020204" pitchFamily="34" charset="0"/>
                    <a:buChar char="•"/>
                  </a:pPr>
                  <a:r>
                    <a:rPr lang="en-US" sz="1400" dirty="0">
                      <a:latin typeface="Georgia" panose="02040502050405020303" pitchFamily="18" charset="0"/>
                    </a:rPr>
                    <a:t>Paris law constants (C, m)</a:t>
                  </a:r>
                  <a:endParaRPr lang="en-AE" sz="1400" dirty="0">
                    <a:latin typeface="Georgia" panose="02040502050405020303" pitchFamily="18" charset="0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603FB4C-6416-B67F-0180-2A9EDD5F51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86" y="2878339"/>
                  <a:ext cx="6096000" cy="1446550"/>
                </a:xfrm>
                <a:prstGeom prst="rect">
                  <a:avLst/>
                </a:prstGeom>
                <a:blipFill>
                  <a:blip r:embed="rId5"/>
                  <a:stretch>
                    <a:fillRect l="-400" t="-1266" b="-2110"/>
                  </a:stretch>
                </a:blipFill>
              </p:spPr>
              <p:txBody>
                <a:bodyPr/>
                <a:lstStyle/>
                <a:p>
                  <a:r>
                    <a:rPr lang="en-A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3D91DA2-B186-C6CB-42FD-3ACCA8D427C2}"/>
                </a:ext>
              </a:extLst>
            </p:cNvPr>
            <p:cNvSpPr txBox="1"/>
            <p:nvPr/>
          </p:nvSpPr>
          <p:spPr>
            <a:xfrm>
              <a:off x="0" y="2544446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800" b="1" i="1" dirty="0">
                  <a:solidFill>
                    <a:srgbClr val="FF0000"/>
                  </a:solidFill>
                  <a:latin typeface="Georgia" panose="02040502050405020303" pitchFamily="18" charset="0"/>
                </a:rPr>
                <a:t>Fatigue Crack Growth (FCG):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AAD43C8-049C-9255-8A3D-39D169BD5302}"/>
              </a:ext>
            </a:extLst>
          </p:cNvPr>
          <p:cNvGrpSpPr/>
          <p:nvPr/>
        </p:nvGrpSpPr>
        <p:grpSpPr>
          <a:xfrm>
            <a:off x="0" y="4867807"/>
            <a:ext cx="6283572" cy="669210"/>
            <a:chOff x="0" y="4867807"/>
            <a:chExt cx="6283572" cy="66921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09FCC26-0377-7848-8E7B-ABFA64DA771E}"/>
                </a:ext>
              </a:extLst>
            </p:cNvPr>
            <p:cNvSpPr txBox="1"/>
            <p:nvPr/>
          </p:nvSpPr>
          <p:spPr>
            <a:xfrm>
              <a:off x="0" y="4867807"/>
              <a:ext cx="624029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800" b="1" i="1" dirty="0">
                  <a:solidFill>
                    <a:srgbClr val="FF0000"/>
                  </a:solidFill>
                  <a:latin typeface="Georgia" panose="02040502050405020303" pitchFamily="18" charset="0"/>
                </a:rPr>
                <a:t>Fatigue testing for </a:t>
              </a:r>
              <a:r>
                <a:rPr lang="en-US" sz="1800" b="1" i="1" dirty="0" err="1">
                  <a:solidFill>
                    <a:srgbClr val="FF0000"/>
                  </a:solidFill>
                  <a:latin typeface="Georgia" panose="02040502050405020303" pitchFamily="18" charset="0"/>
                </a:rPr>
                <a:t>dogbone</a:t>
              </a:r>
              <a:r>
                <a:rPr lang="en-US" sz="1800" b="1" i="1" dirty="0">
                  <a:solidFill>
                    <a:srgbClr val="FF0000"/>
                  </a:solidFill>
                  <a:latin typeface="Georgia" panose="02040502050405020303" pitchFamily="18" charset="0"/>
                </a:rPr>
                <a:t> samples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0C6E008-9406-56EB-6592-3FCE8CF912F9}"/>
                </a:ext>
              </a:extLst>
            </p:cNvPr>
            <p:cNvSpPr txBox="1"/>
            <p:nvPr/>
          </p:nvSpPr>
          <p:spPr>
            <a:xfrm>
              <a:off x="43280" y="5229240"/>
              <a:ext cx="624029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sz="1400" dirty="0">
                  <a:latin typeface="Georgia" panose="02040502050405020303" pitchFamily="18" charset="0"/>
                </a:rPr>
                <a:t>Determine crack length and number of cycles to fail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8C89E16-F703-71A2-45FB-FB9554B86D3F}"/>
              </a:ext>
            </a:extLst>
          </p:cNvPr>
          <p:cNvGrpSpPr/>
          <p:nvPr/>
        </p:nvGrpSpPr>
        <p:grpSpPr>
          <a:xfrm>
            <a:off x="0" y="1080158"/>
            <a:ext cx="6096000" cy="1544745"/>
            <a:chOff x="0" y="1080158"/>
            <a:chExt cx="6096000" cy="1544745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7D28C9-93BF-12BA-D00B-A4FE363F8954}"/>
                </a:ext>
              </a:extLst>
            </p:cNvPr>
            <p:cNvSpPr txBox="1"/>
            <p:nvPr/>
          </p:nvSpPr>
          <p:spPr>
            <a:xfrm>
              <a:off x="0" y="1080158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800" b="1" i="1" dirty="0">
                  <a:solidFill>
                    <a:srgbClr val="FF0000"/>
                  </a:solidFill>
                  <a:latin typeface="Georgia" panose="02040502050405020303" pitchFamily="18" charset="0"/>
                </a:rPr>
                <a:t>Fatigue Pre-</a:t>
              </a:r>
              <a:r>
                <a:rPr lang="en-US" b="1" i="1" dirty="0">
                  <a:solidFill>
                    <a:srgbClr val="FF0000"/>
                  </a:solidFill>
                  <a:latin typeface="Georgia" panose="02040502050405020303" pitchFamily="18" charset="0"/>
                </a:rPr>
                <a:t>c</a:t>
              </a:r>
              <a:r>
                <a:rPr lang="en-US" sz="1800" b="1" i="1" dirty="0">
                  <a:solidFill>
                    <a:srgbClr val="FF0000"/>
                  </a:solidFill>
                  <a:latin typeface="Georgia" panose="02040502050405020303" pitchFamily="18" charset="0"/>
                </a:rPr>
                <a:t>rack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61DA1CB-07D4-8815-1B87-53F17AB56131}"/>
                    </a:ext>
                  </a:extLst>
                </p:cNvPr>
                <p:cNvSpPr txBox="1"/>
                <p:nvPr/>
              </p:nvSpPr>
              <p:spPr>
                <a:xfrm>
                  <a:off x="0" y="1413802"/>
                  <a:ext cx="6096000" cy="121110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285750" indent="-285750">
                    <a:buFont typeface="Wingdings" panose="05000000000000000000" pitchFamily="2" charset="2"/>
                    <a:buChar char="§"/>
                  </a:pPr>
                  <a:r>
                    <a:rPr lang="en-US" sz="1400" dirty="0">
                      <a:latin typeface="Georgia" panose="02040502050405020303" pitchFamily="18" charset="0"/>
                    </a:rPr>
                    <a:t>Standard: ASTM E647</a:t>
                  </a:r>
                </a:p>
                <a:p>
                  <a:pPr marL="285750" indent="-285750">
                    <a:buFont typeface="Wingdings" panose="05000000000000000000" pitchFamily="2" charset="2"/>
                    <a:buChar char="§"/>
                  </a:pPr>
                  <a:r>
                    <a:rPr lang="en-US" sz="1400" dirty="0">
                      <a:latin typeface="Georgia" panose="02040502050405020303" pitchFamily="18" charset="0"/>
                    </a:rPr>
                    <a:t>Load ratio: R = 0.1       Frequency: ~10 Hz</a:t>
                  </a:r>
                </a:p>
                <a:p>
                  <a:pPr marL="285750" indent="-285750">
                    <a:buFont typeface="Wingdings" panose="05000000000000000000" pitchFamily="2" charset="2"/>
                    <a:buChar char="§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=0.6−0.8 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</m:oMath>
                  </a14:m>
                  <a:endParaRPr lang="en-US" sz="1400" dirty="0">
                    <a:latin typeface="Georgia" panose="02040502050405020303" pitchFamily="18" charset="0"/>
                  </a:endParaRPr>
                </a:p>
                <a:p>
                  <a:pPr marL="285750" indent="-285750">
                    <a:buFont typeface="Wingdings" panose="05000000000000000000" pitchFamily="2" charset="2"/>
                    <a:buChar char="§"/>
                  </a:pPr>
                  <a:r>
                    <a:rPr lang="en-US" sz="1400" dirty="0">
                      <a:latin typeface="Georgia" panose="02040502050405020303" pitchFamily="18" charset="0"/>
                    </a:rPr>
                    <a:t>Output:</a:t>
                  </a:r>
                </a:p>
                <a:p>
                  <a:pPr marL="742950" lvl="1" indent="-285750">
                    <a:buFont typeface="Arial" panose="020B0604020202020204" pitchFamily="34" charset="0"/>
                    <a:buChar char="•"/>
                  </a:pPr>
                  <a:r>
                    <a:rPr lang="en-US" sz="1400" dirty="0">
                      <a:latin typeface="Georgia" panose="02040502050405020303" pitchFamily="18" charset="0"/>
                    </a:rPr>
                    <a:t>1 mm crack</a:t>
                  </a:r>
                  <a:endParaRPr lang="en-AE" sz="1400" dirty="0">
                    <a:latin typeface="Georgia" panose="02040502050405020303" pitchFamily="18" charset="0"/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61DA1CB-07D4-8815-1B87-53F17AB561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413802"/>
                  <a:ext cx="6096000" cy="1211101"/>
                </a:xfrm>
                <a:prstGeom prst="rect">
                  <a:avLst/>
                </a:prstGeom>
                <a:blipFill>
                  <a:blip r:embed="rId6"/>
                  <a:stretch>
                    <a:fillRect l="-400" t="-1508" b="-3518"/>
                  </a:stretch>
                </a:blipFill>
              </p:spPr>
              <p:txBody>
                <a:bodyPr/>
                <a:lstStyle/>
                <a:p>
                  <a:r>
                    <a:rPr lang="en-AE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DCE00539-1532-0E26-0FD8-BF910092DA7C}"/>
              </a:ext>
            </a:extLst>
          </p:cNvPr>
          <p:cNvSpPr/>
          <p:nvPr/>
        </p:nvSpPr>
        <p:spPr>
          <a:xfrm>
            <a:off x="7534292" y="3937299"/>
            <a:ext cx="873919" cy="1135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3904E92-11CB-746B-0F6E-192F91929220}"/>
              </a:ext>
            </a:extLst>
          </p:cNvPr>
          <p:cNvSpPr/>
          <p:nvPr/>
        </p:nvSpPr>
        <p:spPr>
          <a:xfrm>
            <a:off x="4107179" y="1712848"/>
            <a:ext cx="614013" cy="4149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2366C0F-9EAF-6DF6-E369-2FD70C956FF8}"/>
              </a:ext>
            </a:extLst>
          </p:cNvPr>
          <p:cNvGrpSpPr/>
          <p:nvPr/>
        </p:nvGrpSpPr>
        <p:grpSpPr>
          <a:xfrm>
            <a:off x="7596940" y="1233609"/>
            <a:ext cx="4551780" cy="4292363"/>
            <a:chOff x="7544385" y="1243127"/>
            <a:chExt cx="4551780" cy="429236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707BD89-5005-7C67-D095-CD0004A3CDDB}"/>
                </a:ext>
              </a:extLst>
            </p:cNvPr>
            <p:cNvSpPr txBox="1"/>
            <p:nvPr/>
          </p:nvSpPr>
          <p:spPr>
            <a:xfrm>
              <a:off x="8575682" y="1243127"/>
              <a:ext cx="274238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600" dirty="0">
                  <a:solidFill>
                    <a:srgbClr val="FF0000"/>
                  </a:solidFill>
                  <a:latin typeface="Georgia" panose="02040502050405020303" pitchFamily="18" charset="0"/>
                </a:rPr>
                <a:t>Quasi-static and Fatigue 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94EA81-7310-C460-B94F-1C44E5555084}"/>
                </a:ext>
              </a:extLst>
            </p:cNvPr>
            <p:cNvSpPr/>
            <p:nvPr/>
          </p:nvSpPr>
          <p:spPr>
            <a:xfrm>
              <a:off x="8420101" y="4111944"/>
              <a:ext cx="902048" cy="11251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8A7A3EC-1929-9068-A5C5-D1D9B6E8007A}"/>
                </a:ext>
              </a:extLst>
            </p:cNvPr>
            <p:cNvGrpSpPr/>
            <p:nvPr/>
          </p:nvGrpSpPr>
          <p:grpSpPr>
            <a:xfrm>
              <a:off x="7544385" y="1928813"/>
              <a:ext cx="4551780" cy="3606677"/>
              <a:chOff x="9912309" y="2019352"/>
              <a:chExt cx="4551780" cy="3606677"/>
            </a:xfrm>
          </p:grpSpPr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1000553E-6410-11C1-3C02-D801818E44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443"/>
              <a:stretch>
                <a:fillRect/>
              </a:stretch>
            </p:blipFill>
            <p:spPr>
              <a:xfrm>
                <a:off x="10165513" y="2019352"/>
                <a:ext cx="4298576" cy="3606677"/>
              </a:xfrm>
              <a:prstGeom prst="rect">
                <a:avLst/>
              </a:prstGeom>
            </p:spPr>
          </p:pic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1D2EDE0-3915-C37D-6AB5-C04808C9C30F}"/>
                  </a:ext>
                </a:extLst>
              </p:cNvPr>
              <p:cNvSpPr/>
              <p:nvPr/>
            </p:nvSpPr>
            <p:spPr>
              <a:xfrm>
                <a:off x="9912309" y="3324224"/>
                <a:ext cx="873919" cy="11358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 dirty="0"/>
              </a:p>
            </p:txBody>
          </p:sp>
        </p:grp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0E7CFCB8-8FC7-897D-34B7-555409AA327A}"/>
              </a:ext>
            </a:extLst>
          </p:cNvPr>
          <p:cNvSpPr txBox="1"/>
          <p:nvPr/>
        </p:nvSpPr>
        <p:spPr>
          <a:xfrm>
            <a:off x="2519123" y="-656111"/>
            <a:ext cx="769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</a:t>
            </a:r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0FEC4F9-D988-F823-A6EF-ED13B60715A6}"/>
              </a:ext>
            </a:extLst>
          </p:cNvPr>
          <p:cNvGrpSpPr/>
          <p:nvPr/>
        </p:nvGrpSpPr>
        <p:grpSpPr>
          <a:xfrm>
            <a:off x="4528665" y="1243127"/>
            <a:ext cx="3628090" cy="5570996"/>
            <a:chOff x="4528665" y="1243127"/>
            <a:chExt cx="3628090" cy="5570996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DB56BB3-8A8E-A3CE-1ECF-C21BA0315074}"/>
                </a:ext>
              </a:extLst>
            </p:cNvPr>
            <p:cNvGrpSpPr/>
            <p:nvPr/>
          </p:nvGrpSpPr>
          <p:grpSpPr>
            <a:xfrm>
              <a:off x="4528665" y="1243127"/>
              <a:ext cx="3465591" cy="4238477"/>
              <a:chOff x="4528665" y="1243127"/>
              <a:chExt cx="3465591" cy="4238477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55727097-3376-EBBE-ADF5-BFF6162EB229}"/>
                  </a:ext>
                </a:extLst>
              </p:cNvPr>
              <p:cNvGrpSpPr/>
              <p:nvPr/>
            </p:nvGrpSpPr>
            <p:grpSpPr>
              <a:xfrm>
                <a:off x="4528665" y="1723357"/>
                <a:ext cx="3304840" cy="3758247"/>
                <a:chOff x="5433458" y="1691837"/>
                <a:chExt cx="3304840" cy="3758247"/>
              </a:xfrm>
            </p:grpSpPr>
            <p:pic>
              <p:nvPicPr>
                <p:cNvPr id="3" name="Picture 2">
                  <a:extLst>
                    <a:ext uri="{FF2B5EF4-FFF2-40B4-BE49-F238E27FC236}">
                      <a16:creationId xmlns:a16="http://schemas.microsoft.com/office/drawing/2014/main" id="{5DC565F8-0F6F-B22E-C997-4D63A134AE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53752"/>
                <a:stretch>
                  <a:fillRect/>
                </a:stretch>
              </p:blipFill>
              <p:spPr>
                <a:xfrm>
                  <a:off x="5433458" y="1691837"/>
                  <a:ext cx="3127899" cy="3606677"/>
                </a:xfrm>
                <a:prstGeom prst="rect">
                  <a:avLst/>
                </a:prstGeom>
              </p:spPr>
            </p:pic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E3C340F7-6054-4B87-4AA4-9D85DC999EF9}"/>
                    </a:ext>
                  </a:extLst>
                </p:cNvPr>
                <p:cNvSpPr/>
                <p:nvPr/>
              </p:nvSpPr>
              <p:spPr>
                <a:xfrm>
                  <a:off x="7864379" y="4324889"/>
                  <a:ext cx="873919" cy="11251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E" dirty="0"/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C81CC1F6-66CA-565A-A2FE-507B4DCE47BD}"/>
                  </a:ext>
                </a:extLst>
              </p:cNvPr>
              <p:cNvGrpSpPr/>
              <p:nvPr/>
            </p:nvGrpSpPr>
            <p:grpSpPr>
              <a:xfrm>
                <a:off x="4897342" y="1243127"/>
                <a:ext cx="3096914" cy="1617309"/>
                <a:chOff x="4897342" y="1243127"/>
                <a:chExt cx="3096914" cy="1617309"/>
              </a:xfrm>
            </p:grpSpPr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77329AD-E7FA-CD01-08CA-DF12C751F1F0}"/>
                    </a:ext>
                  </a:extLst>
                </p:cNvPr>
                <p:cNvSpPr txBox="1"/>
                <p:nvPr/>
              </p:nvSpPr>
              <p:spPr>
                <a:xfrm>
                  <a:off x="4897342" y="1243127"/>
                  <a:ext cx="2742389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600" dirty="0">
                      <a:solidFill>
                        <a:srgbClr val="FF0000"/>
                      </a:solidFill>
                      <a:latin typeface="Georgia" panose="02040502050405020303" pitchFamily="18" charset="0"/>
                    </a:rPr>
                    <a:t>Fatigue Crack Growth (FCG)</a:t>
                  </a: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4CE1B05A-A6DB-9412-FA03-BB683F427AFC}"/>
                    </a:ext>
                  </a:extLst>
                </p:cNvPr>
                <p:cNvSpPr/>
                <p:nvPr/>
              </p:nvSpPr>
              <p:spPr>
                <a:xfrm>
                  <a:off x="7120337" y="1724579"/>
                  <a:ext cx="873919" cy="113585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E" dirty="0"/>
                </a:p>
              </p:txBody>
            </p:sp>
          </p:grpSp>
        </p:grp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03BF5BF2-47C9-F03F-0622-CAD8188CF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4809989" y="5941485"/>
              <a:ext cx="2282409" cy="654409"/>
            </a:xfrm>
            <a:prstGeom prst="rect">
              <a:avLst/>
            </a:prstGeom>
          </p:spPr>
        </p:pic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DFBAC29-FE45-B690-7336-F08AE72300A5}"/>
                </a:ext>
              </a:extLst>
            </p:cNvPr>
            <p:cNvCxnSpPr>
              <a:cxnSpLocks/>
            </p:cNvCxnSpPr>
            <p:nvPr/>
          </p:nvCxnSpPr>
          <p:spPr>
            <a:xfrm>
              <a:off x="4844710" y="5504868"/>
              <a:ext cx="0" cy="1309255"/>
            </a:xfrm>
            <a:prstGeom prst="line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43408B-54C2-A76B-EA98-55F8F5A79E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44710" y="6814123"/>
              <a:ext cx="287772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E964C55-FB62-D09E-A0D7-20E2D8026554}"/>
                    </a:ext>
                  </a:extLst>
                </p:cNvPr>
                <p:cNvSpPr txBox="1"/>
                <p:nvPr/>
              </p:nvSpPr>
              <p:spPr>
                <a:xfrm>
                  <a:off x="6457752" y="5307096"/>
                  <a:ext cx="102150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=0.1</m:t>
                        </m:r>
                      </m:oMath>
                    </m:oMathPara>
                  </a14:m>
                  <a:endParaRPr lang="en-AE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E964C55-FB62-D09E-A0D7-20E2D80265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7752" y="5307096"/>
                  <a:ext cx="1021509" cy="30777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0F5BA374-69F1-BF91-F10D-727D98FA9370}"/>
                    </a:ext>
                  </a:extLst>
                </p:cNvPr>
                <p:cNvSpPr txBox="1"/>
                <p:nvPr/>
              </p:nvSpPr>
              <p:spPr>
                <a:xfrm>
                  <a:off x="4962430" y="5564776"/>
                  <a:ext cx="32384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E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b="0" i="1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oMath>
                    </m:oMathPara>
                  </a14:m>
                  <a:endParaRPr lang="en-AE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0F5BA374-69F1-BF91-F10D-727D98FA93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2430" y="5564776"/>
                  <a:ext cx="323845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92453"/>
                  </a:stretch>
                </a:blipFill>
              </p:spPr>
              <p:txBody>
                <a:bodyPr/>
                <a:lstStyle/>
                <a:p>
                  <a:r>
                    <a:rPr lang="en-A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3C312BA3-722C-1159-59CF-F5AAEEABE019}"/>
                    </a:ext>
                  </a:extLst>
                </p:cNvPr>
                <p:cNvSpPr txBox="1"/>
                <p:nvPr/>
              </p:nvSpPr>
              <p:spPr>
                <a:xfrm>
                  <a:off x="5269742" y="6411228"/>
                  <a:ext cx="32384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E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b="0" i="1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oMath>
                    </m:oMathPara>
                  </a14:m>
                  <a:endParaRPr lang="en-AE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3C312BA3-722C-1159-59CF-F5AAEEABE0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9742" y="6411228"/>
                  <a:ext cx="323845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83333" b="-1667"/>
                  </a:stretch>
                </a:blipFill>
              </p:spPr>
              <p:txBody>
                <a:bodyPr/>
                <a:lstStyle/>
                <a:p>
                  <a:r>
                    <a:rPr lang="en-A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7E1847E1-BE2A-813B-4734-D307B1FD1355}"/>
                    </a:ext>
                  </a:extLst>
                </p:cNvPr>
                <p:cNvSpPr txBox="1"/>
                <p:nvPr/>
              </p:nvSpPr>
              <p:spPr>
                <a:xfrm>
                  <a:off x="7343751" y="6064678"/>
                  <a:ext cx="32384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</a:rPr>
                          <m:t>Δσ</m:t>
                        </m:r>
                      </m:oMath>
                    </m:oMathPara>
                  </a14:m>
                  <a:endParaRPr lang="en-AE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7E1847E1-BE2A-813B-4734-D307B1FD13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3751" y="6064678"/>
                  <a:ext cx="323845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37736"/>
                  </a:stretch>
                </a:blipFill>
              </p:spPr>
              <p:txBody>
                <a:bodyPr/>
                <a:lstStyle/>
                <a:p>
                  <a:r>
                    <a:rPr lang="en-A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AD2EE17A-BF77-E80F-279C-530CB937CD41}"/>
                </a:ext>
              </a:extLst>
            </p:cNvPr>
            <p:cNvCxnSpPr>
              <a:cxnSpLocks/>
            </p:cNvCxnSpPr>
            <p:nvPr/>
          </p:nvCxnSpPr>
          <p:spPr>
            <a:xfrm>
              <a:off x="7265887" y="5960511"/>
              <a:ext cx="0" cy="61635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F8ADC6B-131C-354A-D201-D93A0A4E5526}"/>
                </a:ext>
              </a:extLst>
            </p:cNvPr>
            <p:cNvSpPr/>
            <p:nvPr/>
          </p:nvSpPr>
          <p:spPr>
            <a:xfrm>
              <a:off x="7120337" y="4239974"/>
              <a:ext cx="614013" cy="4149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C02FD90-1BAF-C9A0-F576-15B546543FA6}"/>
                </a:ext>
              </a:extLst>
            </p:cNvPr>
            <p:cNvSpPr/>
            <p:nvPr/>
          </p:nvSpPr>
          <p:spPr>
            <a:xfrm>
              <a:off x="7595143" y="4017074"/>
              <a:ext cx="415415" cy="4149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3F7CF6CD-5FA8-78C3-CFF6-B1447B0B7A5B}"/>
                    </a:ext>
                  </a:extLst>
                </p:cNvPr>
                <p:cNvSpPr txBox="1"/>
                <p:nvPr/>
              </p:nvSpPr>
              <p:spPr>
                <a:xfrm>
                  <a:off x="6028040" y="5542407"/>
                  <a:ext cx="212871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0" dirty="0">
                      <a:latin typeface="Georgia" panose="02040502050405020303" pitchFamily="18" charset="0"/>
                      <a:cs typeface="Times New Roman" panose="02020603050405020304" pitchFamily="18" charset="0"/>
                    </a:rPr>
                    <a:t>Frequency</a:t>
                  </a:r>
                  <a14:m>
                    <m:oMath xmlns:m="http://schemas.openxmlformats.org/officeDocument/2006/math">
                      <m:r>
                        <a:rPr lang="en-US" sz="1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=10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𝐻𝑧</m:t>
                      </m:r>
                    </m:oMath>
                  </a14:m>
                  <a:endParaRPr lang="en-AE" sz="1400" dirty="0">
                    <a:latin typeface="Georgia" panose="02040502050405020303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3F7CF6CD-5FA8-78C3-CFF6-B1447B0B7A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8040" y="5542407"/>
                  <a:ext cx="2128715" cy="307777"/>
                </a:xfrm>
                <a:prstGeom prst="rect">
                  <a:avLst/>
                </a:prstGeom>
                <a:blipFill>
                  <a:blip r:embed="rId13"/>
                  <a:stretch>
                    <a:fillRect l="-860" t="-5882" b="-17647"/>
                  </a:stretch>
                </a:blipFill>
              </p:spPr>
              <p:txBody>
                <a:bodyPr/>
                <a:lstStyle/>
                <a:p>
                  <a:r>
                    <a:rPr lang="en-A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32596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B9692-AB15-4FEB-C669-6E05B440D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34711C57-FC27-E065-8983-45C80A8A54BC}"/>
              </a:ext>
            </a:extLst>
          </p:cNvPr>
          <p:cNvGraphicFramePr>
            <a:graphicFrameLocks noGrp="1"/>
          </p:cNvGraphicFramePr>
          <p:nvPr/>
        </p:nvGraphicFramePr>
        <p:xfrm>
          <a:off x="225774" y="392747"/>
          <a:ext cx="11466095" cy="64008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1466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0" lang="fi-FI" sz="3600" b="1" i="0" u="none" strike="noStrike" kern="1200" cap="none" spc="50" normalizeH="0" baseline="0" noProof="0" dirty="0">
                          <a:ln>
                            <a:noFill/>
                          </a:ln>
                          <a:solidFill>
                            <a:srgbClr val="0047BA"/>
                          </a:solidFill>
                          <a:effectLst/>
                          <a:uLnTx/>
                          <a:uFillTx/>
                          <a:latin typeface="Georgia" panose="02040502050405020303" pitchFamily="18" charset="0"/>
                          <a:ea typeface="+mj-ea"/>
                          <a:cs typeface="Times New Roman" panose="02020603050405020304" pitchFamily="18" charset="0"/>
                        </a:rPr>
                        <a:t>Mehodology: Fatigue Crack Simulation</a:t>
                      </a:r>
                      <a:endParaRPr kumimoji="0" lang="en-US" sz="3600" b="1" i="0" u="none" strike="noStrike" kern="1200" cap="none" spc="50" normalizeH="0" baseline="0" dirty="0">
                        <a:ln>
                          <a:noFill/>
                        </a:ln>
                        <a:solidFill>
                          <a:srgbClr val="0047BA"/>
                        </a:solidFill>
                        <a:effectLst/>
                        <a:uLnTx/>
                        <a:uFillTx/>
                        <a:latin typeface="Georgia" panose="02040502050405020303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5" name="Slide Number Placeholder 3">
            <a:extLst>
              <a:ext uri="{FF2B5EF4-FFF2-40B4-BE49-F238E27FC236}">
                <a16:creationId xmlns:a16="http://schemas.microsoft.com/office/drawing/2014/main" id="{67DA8AB1-07BA-A1B5-5DAF-50E96E56CDB3}"/>
              </a:ext>
            </a:extLst>
          </p:cNvPr>
          <p:cNvSpPr txBox="1">
            <a:spLocks/>
          </p:cNvSpPr>
          <p:nvPr/>
        </p:nvSpPr>
        <p:spPr>
          <a:xfrm>
            <a:off x="11596600" y="6487622"/>
            <a:ext cx="5238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E68DD1B-5CD8-424B-8173-19E182143E0A}" type="slidenum">
              <a:rPr lang="en-US" sz="2000" b="1" smtClean="0">
                <a:solidFill>
                  <a:srgbClr val="0047BA"/>
                </a:solidFill>
                <a:latin typeface="Georgia" panose="02040502050405020303" pitchFamily="18" charset="0"/>
              </a:rPr>
              <a:pPr/>
              <a:t>3</a:t>
            </a:fld>
            <a:endParaRPr lang="en-US" sz="2000" b="1" dirty="0">
              <a:solidFill>
                <a:srgbClr val="0047BA"/>
              </a:solidFill>
              <a:latin typeface="Georgia" panose="02040502050405020303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ED2453A-0F47-2A45-B8F2-6AC186009C07}"/>
              </a:ext>
            </a:extLst>
          </p:cNvPr>
          <p:cNvGrpSpPr/>
          <p:nvPr/>
        </p:nvGrpSpPr>
        <p:grpSpPr>
          <a:xfrm>
            <a:off x="1433512" y="1361059"/>
            <a:ext cx="9324975" cy="4798331"/>
            <a:chOff x="1433512" y="1109149"/>
            <a:chExt cx="9324975" cy="479833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5920FAD-652F-F2BD-A53F-1FD684EC5B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33512" y="1109149"/>
              <a:ext cx="9324975" cy="4798331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14BF797-BFA4-78E6-D20B-6BD88AE5591F}"/>
                </a:ext>
              </a:extLst>
            </p:cNvPr>
            <p:cNvSpPr/>
            <p:nvPr/>
          </p:nvSpPr>
          <p:spPr>
            <a:xfrm>
              <a:off x="2052639" y="5528684"/>
              <a:ext cx="1571624" cy="3013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4B53E6DE-55EB-D731-55C8-B9A3047007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7652" y="5482928"/>
              <a:ext cx="959004" cy="3026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515E885-944E-28C5-8152-DDF2742D85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451" t="91727" r="75927" b="1993"/>
            <a:stretch>
              <a:fillRect/>
            </a:stretch>
          </p:blipFill>
          <p:spPr>
            <a:xfrm>
              <a:off x="1596028" y="5485526"/>
              <a:ext cx="1571624" cy="288209"/>
            </a:xfrm>
            <a:prstGeom prst="rect">
              <a:avLst/>
            </a:prstGeom>
          </p:spPr>
        </p:pic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20E946-D883-3A2C-95EA-05DAA4F4F2A4}"/>
              </a:ext>
            </a:extLst>
          </p:cNvPr>
          <p:cNvCxnSpPr>
            <a:cxnSpLocks/>
          </p:cNvCxnSpPr>
          <p:nvPr/>
        </p:nvCxnSpPr>
        <p:spPr>
          <a:xfrm flipH="1">
            <a:off x="8404860" y="3502349"/>
            <a:ext cx="843915" cy="510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B984C75-EC02-28C5-2ECA-AECF5FC664B9}"/>
              </a:ext>
            </a:extLst>
          </p:cNvPr>
          <p:cNvCxnSpPr>
            <a:cxnSpLocks/>
          </p:cNvCxnSpPr>
          <p:nvPr/>
        </p:nvCxnSpPr>
        <p:spPr>
          <a:xfrm flipH="1" flipV="1">
            <a:off x="8404860" y="3997119"/>
            <a:ext cx="843915" cy="50720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216139-E260-59B4-3367-EBB67FF3F16C}"/>
              </a:ext>
            </a:extLst>
          </p:cNvPr>
          <p:cNvCxnSpPr>
            <a:cxnSpLocks/>
          </p:cNvCxnSpPr>
          <p:nvPr/>
        </p:nvCxnSpPr>
        <p:spPr>
          <a:xfrm flipH="1" flipV="1">
            <a:off x="9229725" y="3502349"/>
            <a:ext cx="843915" cy="510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6CD4EF3-C87B-A5ED-F52B-D52A649A13D5}"/>
              </a:ext>
            </a:extLst>
          </p:cNvPr>
          <p:cNvCxnSpPr>
            <a:cxnSpLocks/>
          </p:cNvCxnSpPr>
          <p:nvPr/>
        </p:nvCxnSpPr>
        <p:spPr>
          <a:xfrm flipH="1">
            <a:off x="9248775" y="4009555"/>
            <a:ext cx="824865" cy="49477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40590489-BB9F-CDD8-ED8B-4627B47A89BC}"/>
              </a:ext>
            </a:extLst>
          </p:cNvPr>
          <p:cNvSpPr/>
          <p:nvPr/>
        </p:nvSpPr>
        <p:spPr>
          <a:xfrm>
            <a:off x="8448675" y="4752974"/>
            <a:ext cx="1576388" cy="91440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90927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508</Words>
  <Application>Microsoft Office PowerPoint</Application>
  <PresentationFormat>Widescreen</PresentationFormat>
  <Paragraphs>70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Georgia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 Hamdy Ahmed Abdelgawad</dc:creator>
  <cp:lastModifiedBy>Ahmed  Hamdy Ahmed Abdelgawad</cp:lastModifiedBy>
  <cp:revision>1</cp:revision>
  <dcterms:created xsi:type="dcterms:W3CDTF">2026-04-12T17:38:31Z</dcterms:created>
  <dcterms:modified xsi:type="dcterms:W3CDTF">2026-04-12T17:40:13Z</dcterms:modified>
</cp:coreProperties>
</file>